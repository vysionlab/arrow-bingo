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5C9D61-FAA7-9CA4-0A20-D66120B820D1}" v="33" dt="2026-01-17T16:54:56.591"/>
    <p1510:client id="{98A36269-9361-39D2-B4C0-68B1C16FDEC6}" v="18" dt="2026-01-17T16:49:21.929"/>
    <p1510:client id="{B1C040F7-A2D4-27DF-76BC-1ECCF7531FFB}" v="24" dt="2026-01-17T16:57:01.0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lza, Chase" userId="S::cbelza@arrowseniorliving.com::41d11e62-9af4-437b-88b8-92c0ea59b680" providerId="AD" clId="Web-{3D5C9D61-FAA7-9CA4-0A20-D66120B820D1}"/>
    <pc:docChg chg="modSld">
      <pc:chgData name="Belza, Chase" userId="S::cbelza@arrowseniorliving.com::41d11e62-9af4-437b-88b8-92c0ea59b680" providerId="AD" clId="Web-{3D5C9D61-FAA7-9CA4-0A20-D66120B820D1}" dt="2026-01-17T16:54:56.591" v="32"/>
      <pc:docMkLst>
        <pc:docMk/>
      </pc:docMkLst>
      <pc:sldChg chg="modSp addAnim delAnim modAnim">
        <pc:chgData name="Belza, Chase" userId="S::cbelza@arrowseniorliving.com::41d11e62-9af4-437b-88b8-92c0ea59b680" providerId="AD" clId="Web-{3D5C9D61-FAA7-9CA4-0A20-D66120B820D1}" dt="2026-01-17T16:54:56.591" v="32"/>
        <pc:sldMkLst>
          <pc:docMk/>
          <pc:sldMk cId="0" sldId="257"/>
        </pc:sldMkLst>
        <pc:spChg chg="mod">
          <ac:chgData name="Belza, Chase" userId="S::cbelza@arrowseniorliving.com::41d11e62-9af4-437b-88b8-92c0ea59b680" providerId="AD" clId="Web-{3D5C9D61-FAA7-9CA4-0A20-D66120B820D1}" dt="2026-01-17T16:52:38.183" v="13" actId="1076"/>
          <ac:spMkLst>
            <pc:docMk/>
            <pc:sldMk cId="0" sldId="257"/>
            <ac:spMk id="8" creationId="{00000000-0000-0000-0000-000000000000}"/>
          </ac:spMkLst>
        </pc:spChg>
      </pc:sldChg>
    </pc:docChg>
  </pc:docChgLst>
  <pc:docChgLst>
    <pc:chgData name="Belza, Chase" userId="S::cbelza@arrowseniorliving.com::41d11e62-9af4-437b-88b8-92c0ea59b680" providerId="AD" clId="Web-{B1C040F7-A2D4-27DF-76BC-1ECCF7531FFB}"/>
    <pc:docChg chg="modSld">
      <pc:chgData name="Belza, Chase" userId="S::cbelza@arrowseniorliving.com::41d11e62-9af4-437b-88b8-92c0ea59b680" providerId="AD" clId="Web-{B1C040F7-A2D4-27DF-76BC-1ECCF7531FFB}" dt="2026-01-17T16:57:01.028" v="23"/>
      <pc:docMkLst>
        <pc:docMk/>
      </pc:docMkLst>
      <pc:sldChg chg="modTransition delAnim modAnim">
        <pc:chgData name="Belza, Chase" userId="S::cbelza@arrowseniorliving.com::41d11e62-9af4-437b-88b8-92c0ea59b680" providerId="AD" clId="Web-{B1C040F7-A2D4-27DF-76BC-1ECCF7531FFB}" dt="2026-01-17T16:57:01.028" v="23"/>
        <pc:sldMkLst>
          <pc:docMk/>
          <pc:sldMk cId="0" sldId="257"/>
        </pc:sldMkLst>
      </pc:sldChg>
    </pc:docChg>
  </pc:docChgLst>
  <pc:docChgLst>
    <pc:chgData name="Belza, Chase" userId="S::cbelza@arrowseniorliving.com::41d11e62-9af4-437b-88b8-92c0ea59b680" providerId="AD" clId="Web-{98A36269-9361-39D2-B4C0-68B1C16FDEC6}"/>
    <pc:docChg chg="modSld">
      <pc:chgData name="Belza, Chase" userId="S::cbelza@arrowseniorliving.com::41d11e62-9af4-437b-88b8-92c0ea59b680" providerId="AD" clId="Web-{98A36269-9361-39D2-B4C0-68B1C16FDEC6}" dt="2026-01-17T16:49:21.929" v="17"/>
      <pc:docMkLst>
        <pc:docMk/>
      </pc:docMkLst>
      <pc:sldChg chg="addAnim modAnim">
        <pc:chgData name="Belza, Chase" userId="S::cbelza@arrowseniorliving.com::41d11e62-9af4-437b-88b8-92c0ea59b680" providerId="AD" clId="Web-{98A36269-9361-39D2-B4C0-68B1C16FDEC6}" dt="2026-01-17T16:49:21.929" v="17"/>
        <pc:sldMkLst>
          <pc:docMk/>
          <pc:sldMk cId="0" sldId="25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13" Type="http://schemas.openxmlformats.org/officeDocument/2006/relationships/slide" Target="slide14.xml"/><Relationship Id="rId18" Type="http://schemas.openxmlformats.org/officeDocument/2006/relationships/slide" Target="slide19.xml"/><Relationship Id="rId26" Type="http://schemas.openxmlformats.org/officeDocument/2006/relationships/slide" Target="slide27.xml"/><Relationship Id="rId3" Type="http://schemas.openxmlformats.org/officeDocument/2006/relationships/slide" Target="slide4.xml"/><Relationship Id="rId21" Type="http://schemas.openxmlformats.org/officeDocument/2006/relationships/slide" Target="slide22.xml"/><Relationship Id="rId7" Type="http://schemas.openxmlformats.org/officeDocument/2006/relationships/slide" Target="slide8.xml"/><Relationship Id="rId12" Type="http://schemas.openxmlformats.org/officeDocument/2006/relationships/slide" Target="slide13.xml"/><Relationship Id="rId17" Type="http://schemas.openxmlformats.org/officeDocument/2006/relationships/slide" Target="slide18.xml"/><Relationship Id="rId25" Type="http://schemas.openxmlformats.org/officeDocument/2006/relationships/slide" Target="slide26.xml"/><Relationship Id="rId2" Type="http://schemas.openxmlformats.org/officeDocument/2006/relationships/slide" Target="slide3.xml"/><Relationship Id="rId16" Type="http://schemas.openxmlformats.org/officeDocument/2006/relationships/slide" Target="slide17.xml"/><Relationship Id="rId20" Type="http://schemas.openxmlformats.org/officeDocument/2006/relationships/slide" Target="slide21.xml"/><Relationship Id="rId1" Type="http://schemas.openxmlformats.org/officeDocument/2006/relationships/slideLayout" Target="../slideLayouts/slideLayout7.xml"/><Relationship Id="rId6" Type="http://schemas.openxmlformats.org/officeDocument/2006/relationships/slide" Target="slide7.xml"/><Relationship Id="rId11" Type="http://schemas.openxmlformats.org/officeDocument/2006/relationships/slide" Target="slide12.xml"/><Relationship Id="rId24" Type="http://schemas.openxmlformats.org/officeDocument/2006/relationships/slide" Target="slide25.xml"/><Relationship Id="rId5" Type="http://schemas.openxmlformats.org/officeDocument/2006/relationships/slide" Target="slide6.xml"/><Relationship Id="rId15" Type="http://schemas.openxmlformats.org/officeDocument/2006/relationships/slide" Target="slide16.xml"/><Relationship Id="rId23" Type="http://schemas.openxmlformats.org/officeDocument/2006/relationships/slide" Target="slide24.xml"/><Relationship Id="rId10" Type="http://schemas.openxmlformats.org/officeDocument/2006/relationships/slide" Target="slide11.xml"/><Relationship Id="rId19" Type="http://schemas.openxmlformats.org/officeDocument/2006/relationships/slide" Target="slide20.xml"/><Relationship Id="rId4" Type="http://schemas.openxmlformats.org/officeDocument/2006/relationships/slide" Target="slide5.xml"/><Relationship Id="rId9" Type="http://schemas.openxmlformats.org/officeDocument/2006/relationships/slide" Target="slide10.xml"/><Relationship Id="rId14" Type="http://schemas.openxmlformats.org/officeDocument/2006/relationships/slide" Target="slide15.xml"/><Relationship Id="rId22" Type="http://schemas.openxmlformats.org/officeDocument/2006/relationships/slide" Target="slide2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Life Safety &amp; Fire Code Jeopardy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Select a point value to begin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/>
              <a:t>Jeopardy Game 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1737360" cy="914400"/>
          </a:xfrm>
          <a:prstGeom prst="rect">
            <a:avLst/>
          </a:prstGeom>
          <a:solidFill>
            <a:srgbClr val="0066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Fire Suppression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2103120" y="1005840"/>
            <a:ext cx="1737360" cy="914400"/>
          </a:xfrm>
          <a:prstGeom prst="rect">
            <a:avLst/>
          </a:prstGeom>
          <a:solidFill>
            <a:srgbClr val="0066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Emergency Power Supply Systems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0" y="1005840"/>
            <a:ext cx="1737360" cy="914400"/>
          </a:xfrm>
          <a:prstGeom prst="rect">
            <a:avLst/>
          </a:prstGeom>
          <a:solidFill>
            <a:srgbClr val="0066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Egress Requirements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7840" y="1005840"/>
            <a:ext cx="1737360" cy="914400"/>
          </a:xfrm>
          <a:prstGeom prst="rect">
            <a:avLst/>
          </a:prstGeom>
          <a:solidFill>
            <a:srgbClr val="0066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Fire Alarm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0" y="1005840"/>
            <a:ext cx="1737360" cy="914400"/>
          </a:xfrm>
          <a:prstGeom prst="rect">
            <a:avLst/>
          </a:prstGeom>
          <a:solidFill>
            <a:srgbClr val="0066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Miscellaneous</a:t>
            </a:r>
          </a:p>
        </p:txBody>
      </p:sp>
      <p:sp>
        <p:nvSpPr>
          <p:cNvPr id="8" name="Rectangle 7">
            <a:hlinkClick r:id="rId2" action="ppaction://hlinksldjump"/>
          </p:cNvPr>
          <p:cNvSpPr/>
          <p:nvPr/>
        </p:nvSpPr>
        <p:spPr>
          <a:xfrm>
            <a:off x="365760" y="1930355"/>
            <a:ext cx="1737360" cy="914400"/>
          </a:xfrm>
          <a:prstGeom prst="rect">
            <a:avLst/>
          </a:prstGeom>
          <a:solidFill>
            <a:srgbClr val="00336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CC00"/>
                </a:solidFill>
              </a:rPr>
              <a:t>100</a:t>
            </a:r>
          </a:p>
        </p:txBody>
      </p:sp>
      <p:sp>
        <p:nvSpPr>
          <p:cNvPr id="9" name="Rectangle 8">
            <a:hlinkClick r:id="rId3" action="ppaction://hlinksldjump"/>
          </p:cNvPr>
          <p:cNvSpPr/>
          <p:nvPr/>
        </p:nvSpPr>
        <p:spPr>
          <a:xfrm>
            <a:off x="365760" y="2834640"/>
            <a:ext cx="1737360" cy="914400"/>
          </a:xfrm>
          <a:prstGeom prst="rect">
            <a:avLst/>
          </a:prstGeom>
          <a:solidFill>
            <a:srgbClr val="00336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CC00"/>
                </a:solidFill>
              </a:rPr>
              <a:t>200</a:t>
            </a:r>
          </a:p>
        </p:txBody>
      </p:sp>
      <p:sp>
        <p:nvSpPr>
          <p:cNvPr id="10" name="Rectangle 9">
            <a:hlinkClick r:id="rId4" action="ppaction://hlinksldjump"/>
          </p:cNvPr>
          <p:cNvSpPr/>
          <p:nvPr/>
        </p:nvSpPr>
        <p:spPr>
          <a:xfrm>
            <a:off x="365760" y="3749039"/>
            <a:ext cx="1737360" cy="914400"/>
          </a:xfrm>
          <a:prstGeom prst="rect">
            <a:avLst/>
          </a:prstGeom>
          <a:solidFill>
            <a:srgbClr val="00336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CC00"/>
                </a:solidFill>
              </a:rPr>
              <a:t>300</a:t>
            </a:r>
          </a:p>
        </p:txBody>
      </p:sp>
      <p:sp>
        <p:nvSpPr>
          <p:cNvPr id="11" name="Rectangle 10">
            <a:hlinkClick r:id="rId5" action="ppaction://hlinksldjump"/>
          </p:cNvPr>
          <p:cNvSpPr/>
          <p:nvPr/>
        </p:nvSpPr>
        <p:spPr>
          <a:xfrm>
            <a:off x="365760" y="4663440"/>
            <a:ext cx="1737360" cy="914400"/>
          </a:xfrm>
          <a:prstGeom prst="rect">
            <a:avLst/>
          </a:prstGeom>
          <a:solidFill>
            <a:srgbClr val="00336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CC00"/>
                </a:solidFill>
              </a:rPr>
              <a:t>400</a:t>
            </a:r>
          </a:p>
        </p:txBody>
      </p:sp>
      <p:sp>
        <p:nvSpPr>
          <p:cNvPr id="12" name="Rectangle 11">
            <a:hlinkClick r:id="rId6" action="ppaction://hlinksldjump"/>
          </p:cNvPr>
          <p:cNvSpPr/>
          <p:nvPr/>
        </p:nvSpPr>
        <p:spPr>
          <a:xfrm>
            <a:off x="365760" y="5577840"/>
            <a:ext cx="1737360" cy="914400"/>
          </a:xfrm>
          <a:prstGeom prst="rect">
            <a:avLst/>
          </a:prstGeom>
          <a:solidFill>
            <a:srgbClr val="00336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CC00"/>
                </a:solidFill>
              </a:rPr>
              <a:t>500</a:t>
            </a:r>
          </a:p>
        </p:txBody>
      </p:sp>
      <p:sp>
        <p:nvSpPr>
          <p:cNvPr id="13" name="Rectangle 12">
            <a:hlinkClick r:id="rId7" action="ppaction://hlinksldjump"/>
          </p:cNvPr>
          <p:cNvSpPr/>
          <p:nvPr/>
        </p:nvSpPr>
        <p:spPr>
          <a:xfrm>
            <a:off x="2103120" y="1920240"/>
            <a:ext cx="1737360" cy="914400"/>
          </a:xfrm>
          <a:prstGeom prst="rect">
            <a:avLst/>
          </a:prstGeom>
          <a:solidFill>
            <a:srgbClr val="00336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CC00"/>
                </a:solidFill>
              </a:rPr>
              <a:t>100</a:t>
            </a:r>
          </a:p>
        </p:txBody>
      </p:sp>
      <p:sp>
        <p:nvSpPr>
          <p:cNvPr id="14" name="Rectangle 13">
            <a:hlinkClick r:id="rId8" action="ppaction://hlinksldjump"/>
          </p:cNvPr>
          <p:cNvSpPr/>
          <p:nvPr/>
        </p:nvSpPr>
        <p:spPr>
          <a:xfrm>
            <a:off x="2103120" y="2834640"/>
            <a:ext cx="1737360" cy="914400"/>
          </a:xfrm>
          <a:prstGeom prst="rect">
            <a:avLst/>
          </a:prstGeom>
          <a:solidFill>
            <a:srgbClr val="00336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CC00"/>
                </a:solidFill>
              </a:rPr>
              <a:t>200</a:t>
            </a:r>
          </a:p>
        </p:txBody>
      </p:sp>
      <p:sp>
        <p:nvSpPr>
          <p:cNvPr id="15" name="Rectangle 14">
            <a:hlinkClick r:id="rId9" action="ppaction://hlinksldjump"/>
          </p:cNvPr>
          <p:cNvSpPr/>
          <p:nvPr/>
        </p:nvSpPr>
        <p:spPr>
          <a:xfrm>
            <a:off x="2103120" y="3749039"/>
            <a:ext cx="1737360" cy="914400"/>
          </a:xfrm>
          <a:prstGeom prst="rect">
            <a:avLst/>
          </a:prstGeom>
          <a:solidFill>
            <a:srgbClr val="00336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CC00"/>
                </a:solidFill>
              </a:rPr>
              <a:t>300</a:t>
            </a:r>
          </a:p>
        </p:txBody>
      </p:sp>
      <p:sp>
        <p:nvSpPr>
          <p:cNvPr id="16" name="Rectangle 15">
            <a:hlinkClick r:id="rId10" action="ppaction://hlinksldjump"/>
          </p:cNvPr>
          <p:cNvSpPr/>
          <p:nvPr/>
        </p:nvSpPr>
        <p:spPr>
          <a:xfrm>
            <a:off x="2103120" y="4663440"/>
            <a:ext cx="1737360" cy="914400"/>
          </a:xfrm>
          <a:prstGeom prst="rect">
            <a:avLst/>
          </a:prstGeom>
          <a:solidFill>
            <a:srgbClr val="00336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CC00"/>
                </a:solidFill>
              </a:rPr>
              <a:t>400</a:t>
            </a:r>
          </a:p>
        </p:txBody>
      </p:sp>
      <p:sp>
        <p:nvSpPr>
          <p:cNvPr id="17" name="Rectangle 16">
            <a:hlinkClick r:id="rId11" action="ppaction://hlinksldjump"/>
          </p:cNvPr>
          <p:cNvSpPr/>
          <p:nvPr/>
        </p:nvSpPr>
        <p:spPr>
          <a:xfrm>
            <a:off x="2103120" y="5577840"/>
            <a:ext cx="1737360" cy="914400"/>
          </a:xfrm>
          <a:prstGeom prst="rect">
            <a:avLst/>
          </a:prstGeom>
          <a:solidFill>
            <a:srgbClr val="00336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CC00"/>
                </a:solidFill>
              </a:rPr>
              <a:t>500</a:t>
            </a:r>
          </a:p>
        </p:txBody>
      </p:sp>
      <p:sp>
        <p:nvSpPr>
          <p:cNvPr id="18" name="Rectangle 17">
            <a:hlinkClick r:id="rId12" action="ppaction://hlinksldjump"/>
          </p:cNvPr>
          <p:cNvSpPr/>
          <p:nvPr/>
        </p:nvSpPr>
        <p:spPr>
          <a:xfrm>
            <a:off x="3840480" y="1920240"/>
            <a:ext cx="1737360" cy="914400"/>
          </a:xfrm>
          <a:prstGeom prst="rect">
            <a:avLst/>
          </a:prstGeom>
          <a:solidFill>
            <a:srgbClr val="00336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CC00"/>
                </a:solidFill>
              </a:rPr>
              <a:t>100</a:t>
            </a:r>
          </a:p>
        </p:txBody>
      </p:sp>
      <p:sp>
        <p:nvSpPr>
          <p:cNvPr id="19" name="Rectangle 18">
            <a:hlinkClick r:id="rId13" action="ppaction://hlinksldjump"/>
          </p:cNvPr>
          <p:cNvSpPr/>
          <p:nvPr/>
        </p:nvSpPr>
        <p:spPr>
          <a:xfrm>
            <a:off x="3840480" y="2834640"/>
            <a:ext cx="1737360" cy="914400"/>
          </a:xfrm>
          <a:prstGeom prst="rect">
            <a:avLst/>
          </a:prstGeom>
          <a:solidFill>
            <a:srgbClr val="00336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CC00"/>
                </a:solidFill>
              </a:rPr>
              <a:t>200</a:t>
            </a:r>
          </a:p>
        </p:txBody>
      </p:sp>
      <p:sp>
        <p:nvSpPr>
          <p:cNvPr id="20" name="Rectangle 19">
            <a:hlinkClick r:id="rId14" action="ppaction://hlinksldjump"/>
          </p:cNvPr>
          <p:cNvSpPr/>
          <p:nvPr/>
        </p:nvSpPr>
        <p:spPr>
          <a:xfrm>
            <a:off x="3840480" y="3749039"/>
            <a:ext cx="1737360" cy="914400"/>
          </a:xfrm>
          <a:prstGeom prst="rect">
            <a:avLst/>
          </a:prstGeom>
          <a:solidFill>
            <a:srgbClr val="00336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CC00"/>
                </a:solidFill>
              </a:rPr>
              <a:t>300</a:t>
            </a:r>
          </a:p>
        </p:txBody>
      </p:sp>
      <p:sp>
        <p:nvSpPr>
          <p:cNvPr id="21" name="Rectangle 20">
            <a:hlinkClick r:id="rId15" action="ppaction://hlinksldjump"/>
          </p:cNvPr>
          <p:cNvSpPr/>
          <p:nvPr/>
        </p:nvSpPr>
        <p:spPr>
          <a:xfrm>
            <a:off x="3840480" y="4663440"/>
            <a:ext cx="1737360" cy="914400"/>
          </a:xfrm>
          <a:prstGeom prst="rect">
            <a:avLst/>
          </a:prstGeom>
          <a:solidFill>
            <a:srgbClr val="00336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CC00"/>
                </a:solidFill>
              </a:rPr>
              <a:t>400</a:t>
            </a:r>
          </a:p>
        </p:txBody>
      </p:sp>
      <p:sp>
        <p:nvSpPr>
          <p:cNvPr id="22" name="Rectangle 21">
            <a:hlinkClick r:id="rId16" action="ppaction://hlinksldjump"/>
          </p:cNvPr>
          <p:cNvSpPr/>
          <p:nvPr/>
        </p:nvSpPr>
        <p:spPr>
          <a:xfrm>
            <a:off x="3840480" y="5577840"/>
            <a:ext cx="1737360" cy="914400"/>
          </a:xfrm>
          <a:prstGeom prst="rect">
            <a:avLst/>
          </a:prstGeom>
          <a:solidFill>
            <a:srgbClr val="00336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CC00"/>
                </a:solidFill>
              </a:rPr>
              <a:t>500</a:t>
            </a:r>
          </a:p>
        </p:txBody>
      </p:sp>
      <p:sp>
        <p:nvSpPr>
          <p:cNvPr id="23" name="Rectangle 22">
            <a:hlinkClick r:id="rId17" action="ppaction://hlinksldjump"/>
          </p:cNvPr>
          <p:cNvSpPr/>
          <p:nvPr/>
        </p:nvSpPr>
        <p:spPr>
          <a:xfrm>
            <a:off x="5577840" y="1920240"/>
            <a:ext cx="1737360" cy="914400"/>
          </a:xfrm>
          <a:prstGeom prst="rect">
            <a:avLst/>
          </a:prstGeom>
          <a:solidFill>
            <a:srgbClr val="00336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CC00"/>
                </a:solidFill>
              </a:rPr>
              <a:t>100</a:t>
            </a:r>
          </a:p>
        </p:txBody>
      </p:sp>
      <p:sp>
        <p:nvSpPr>
          <p:cNvPr id="24" name="Rectangle 23">
            <a:hlinkClick r:id="rId18" action="ppaction://hlinksldjump"/>
          </p:cNvPr>
          <p:cNvSpPr/>
          <p:nvPr/>
        </p:nvSpPr>
        <p:spPr>
          <a:xfrm>
            <a:off x="5577840" y="2834640"/>
            <a:ext cx="1737360" cy="914400"/>
          </a:xfrm>
          <a:prstGeom prst="rect">
            <a:avLst/>
          </a:prstGeom>
          <a:solidFill>
            <a:srgbClr val="00336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CC00"/>
                </a:solidFill>
              </a:rPr>
              <a:t>200</a:t>
            </a:r>
          </a:p>
        </p:txBody>
      </p:sp>
      <p:sp>
        <p:nvSpPr>
          <p:cNvPr id="25" name="Rectangle 24">
            <a:hlinkClick r:id="rId19" action="ppaction://hlinksldjump"/>
          </p:cNvPr>
          <p:cNvSpPr/>
          <p:nvPr/>
        </p:nvSpPr>
        <p:spPr>
          <a:xfrm>
            <a:off x="5577840" y="3749039"/>
            <a:ext cx="1737360" cy="914400"/>
          </a:xfrm>
          <a:prstGeom prst="rect">
            <a:avLst/>
          </a:prstGeom>
          <a:solidFill>
            <a:srgbClr val="00336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CC00"/>
                </a:solidFill>
              </a:rPr>
              <a:t>300</a:t>
            </a:r>
          </a:p>
        </p:txBody>
      </p:sp>
      <p:sp>
        <p:nvSpPr>
          <p:cNvPr id="26" name="Rectangle 25">
            <a:hlinkClick r:id="rId20" action="ppaction://hlinksldjump"/>
          </p:cNvPr>
          <p:cNvSpPr/>
          <p:nvPr/>
        </p:nvSpPr>
        <p:spPr>
          <a:xfrm>
            <a:off x="5577840" y="4663440"/>
            <a:ext cx="1737360" cy="914400"/>
          </a:xfrm>
          <a:prstGeom prst="rect">
            <a:avLst/>
          </a:prstGeom>
          <a:solidFill>
            <a:srgbClr val="00336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CC00"/>
                </a:solidFill>
              </a:rPr>
              <a:t>400</a:t>
            </a:r>
          </a:p>
        </p:txBody>
      </p:sp>
      <p:sp>
        <p:nvSpPr>
          <p:cNvPr id="27" name="Rectangle 26">
            <a:hlinkClick r:id="rId21" action="ppaction://hlinksldjump"/>
          </p:cNvPr>
          <p:cNvSpPr/>
          <p:nvPr/>
        </p:nvSpPr>
        <p:spPr>
          <a:xfrm>
            <a:off x="5577840" y="5577840"/>
            <a:ext cx="1737360" cy="914400"/>
          </a:xfrm>
          <a:prstGeom prst="rect">
            <a:avLst/>
          </a:prstGeom>
          <a:solidFill>
            <a:srgbClr val="00336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CC00"/>
                </a:solidFill>
              </a:rPr>
              <a:t>500</a:t>
            </a:r>
          </a:p>
        </p:txBody>
      </p:sp>
      <p:sp>
        <p:nvSpPr>
          <p:cNvPr id="28" name="Rectangle 27">
            <a:hlinkClick r:id="rId22" action="ppaction://hlinksldjump"/>
          </p:cNvPr>
          <p:cNvSpPr/>
          <p:nvPr/>
        </p:nvSpPr>
        <p:spPr>
          <a:xfrm>
            <a:off x="7315200" y="1920240"/>
            <a:ext cx="1737360" cy="914400"/>
          </a:xfrm>
          <a:prstGeom prst="rect">
            <a:avLst/>
          </a:prstGeom>
          <a:solidFill>
            <a:srgbClr val="00336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CC00"/>
                </a:solidFill>
              </a:rPr>
              <a:t>100</a:t>
            </a:r>
          </a:p>
        </p:txBody>
      </p:sp>
      <p:sp>
        <p:nvSpPr>
          <p:cNvPr id="29" name="Rectangle 28">
            <a:hlinkClick r:id="rId23" action="ppaction://hlinksldjump"/>
          </p:cNvPr>
          <p:cNvSpPr/>
          <p:nvPr/>
        </p:nvSpPr>
        <p:spPr>
          <a:xfrm>
            <a:off x="7315200" y="2834640"/>
            <a:ext cx="1737360" cy="914400"/>
          </a:xfrm>
          <a:prstGeom prst="rect">
            <a:avLst/>
          </a:prstGeom>
          <a:solidFill>
            <a:srgbClr val="00336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CC00"/>
                </a:solidFill>
              </a:rPr>
              <a:t>200</a:t>
            </a:r>
          </a:p>
        </p:txBody>
      </p:sp>
      <p:sp>
        <p:nvSpPr>
          <p:cNvPr id="30" name="Rectangle 29">
            <a:hlinkClick r:id="rId24" action="ppaction://hlinksldjump"/>
          </p:cNvPr>
          <p:cNvSpPr/>
          <p:nvPr/>
        </p:nvSpPr>
        <p:spPr>
          <a:xfrm>
            <a:off x="7315200" y="3749039"/>
            <a:ext cx="1737360" cy="914400"/>
          </a:xfrm>
          <a:prstGeom prst="rect">
            <a:avLst/>
          </a:prstGeom>
          <a:solidFill>
            <a:srgbClr val="00336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CC00"/>
                </a:solidFill>
              </a:rPr>
              <a:t>300</a:t>
            </a:r>
          </a:p>
        </p:txBody>
      </p:sp>
      <p:sp>
        <p:nvSpPr>
          <p:cNvPr id="31" name="Rectangle 30">
            <a:hlinkClick r:id="rId25" action="ppaction://hlinksldjump"/>
          </p:cNvPr>
          <p:cNvSpPr/>
          <p:nvPr/>
        </p:nvSpPr>
        <p:spPr>
          <a:xfrm>
            <a:off x="7315200" y="4663440"/>
            <a:ext cx="1737360" cy="914400"/>
          </a:xfrm>
          <a:prstGeom prst="rect">
            <a:avLst/>
          </a:prstGeom>
          <a:solidFill>
            <a:srgbClr val="00336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CC00"/>
                </a:solidFill>
              </a:rPr>
              <a:t>400</a:t>
            </a:r>
          </a:p>
        </p:txBody>
      </p:sp>
      <p:sp>
        <p:nvSpPr>
          <p:cNvPr id="32" name="Rectangle 31">
            <a:hlinkClick r:id="rId26" action="ppaction://hlinksldjump"/>
          </p:cNvPr>
          <p:cNvSpPr/>
          <p:nvPr/>
        </p:nvSpPr>
        <p:spPr>
          <a:xfrm>
            <a:off x="7315200" y="5577840"/>
            <a:ext cx="1737360" cy="914400"/>
          </a:xfrm>
          <a:prstGeom prst="rect">
            <a:avLst/>
          </a:prstGeom>
          <a:solidFill>
            <a:srgbClr val="00336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CC00"/>
                </a:solidFill>
              </a:rPr>
              <a:t>500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3788" y="1097280"/>
            <a:ext cx="847642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b="1" dirty="0"/>
              <a:t>According to NFPA 25, fire sprinkler gauges must be tested or replaced every ___ years.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06400"/>
                </a:solidFill>
              </a:rPr>
              <a:t>Answer: 5 years</a:t>
            </a:r>
          </a:p>
        </p:txBody>
      </p:sp>
      <p:sp>
        <p:nvSpPr>
          <p:cNvPr id="4" name="Rectangle 3">
            <a:hlinkClick r:id="rId2" action="ppaction://hlinksldjump"/>
          </p:cNvPr>
          <p:cNvSpPr/>
          <p:nvPr/>
        </p:nvSpPr>
        <p:spPr>
          <a:xfrm>
            <a:off x="7315200" y="5669280"/>
            <a:ext cx="18288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Return to 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126" y="1097280"/>
            <a:ext cx="896174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dirty="0"/>
              <a:t>According to NFPA 13, what is the minimum allowable distance from any obstruction to a pendant sprinkler deflector?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06400"/>
                </a:solidFill>
              </a:rPr>
              <a:t>Answer: 18”</a:t>
            </a:r>
          </a:p>
        </p:txBody>
      </p:sp>
      <p:sp>
        <p:nvSpPr>
          <p:cNvPr id="4" name="Rectangle 3">
            <a:hlinkClick r:id="rId2" action="ppaction://hlinksldjump"/>
          </p:cNvPr>
          <p:cNvSpPr/>
          <p:nvPr/>
        </p:nvSpPr>
        <p:spPr>
          <a:xfrm>
            <a:off x="7315200" y="5669280"/>
            <a:ext cx="18288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Return to 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9338" y="1097280"/>
            <a:ext cx="844532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/>
              <a:t>According to NFPA 25, what is the required frequency for Fire Sprinkler Internal Pipe Inspections?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06400"/>
                </a:solidFill>
              </a:rPr>
              <a:t>Answer: 5 years</a:t>
            </a:r>
          </a:p>
        </p:txBody>
      </p:sp>
      <p:sp>
        <p:nvSpPr>
          <p:cNvPr id="4" name="Rectangle 3">
            <a:hlinkClick r:id="rId2" action="ppaction://hlinksldjump"/>
          </p:cNvPr>
          <p:cNvSpPr/>
          <p:nvPr/>
        </p:nvSpPr>
        <p:spPr>
          <a:xfrm>
            <a:off x="7315200" y="5669280"/>
            <a:ext cx="18288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Return to 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50291" y="1097280"/>
            <a:ext cx="924458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dirty="0"/>
              <a:t>According to NFPA 25, what is the minimum run time for an electric motor-driven fire pump during the weekly churn test?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06400"/>
                </a:solidFill>
              </a:rPr>
              <a:t>Answer: 10 minutes</a:t>
            </a:r>
          </a:p>
        </p:txBody>
      </p:sp>
      <p:sp>
        <p:nvSpPr>
          <p:cNvPr id="4" name="Rectangle 3">
            <a:hlinkClick r:id="rId2" action="ppaction://hlinksldjump"/>
          </p:cNvPr>
          <p:cNvSpPr/>
          <p:nvPr/>
        </p:nvSpPr>
        <p:spPr>
          <a:xfrm>
            <a:off x="7315200" y="5669280"/>
            <a:ext cx="18288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Return to 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170644" y="1097280"/>
            <a:ext cx="9485289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dirty="0"/>
              <a:t>According to NFPA 13, what is the minimum amount of spare sprinkler heads required for each standard sprinkler head type with fewer than 300 used in the building?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06400"/>
                </a:solidFill>
              </a:rPr>
              <a:t>Answer: 6</a:t>
            </a:r>
          </a:p>
        </p:txBody>
      </p:sp>
      <p:sp>
        <p:nvSpPr>
          <p:cNvPr id="4" name="Rectangle 3">
            <a:hlinkClick r:id="rId2" action="ppaction://hlinksldjump"/>
          </p:cNvPr>
          <p:cNvSpPr/>
          <p:nvPr/>
        </p:nvSpPr>
        <p:spPr>
          <a:xfrm>
            <a:off x="7315200" y="5669280"/>
            <a:ext cx="18288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Return to Board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6623" y="1097280"/>
            <a:ext cx="861075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dirty="0"/>
              <a:t>According to NFPA 110, what is the minimum duration of a monthly generator load test?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06400"/>
                </a:solidFill>
              </a:rPr>
              <a:t>Answer: 30 minutes</a:t>
            </a:r>
          </a:p>
        </p:txBody>
      </p:sp>
      <p:sp>
        <p:nvSpPr>
          <p:cNvPr id="4" name="Rectangle 3">
            <a:hlinkClick r:id="rId2" action="ppaction://hlinksldjump"/>
          </p:cNvPr>
          <p:cNvSpPr/>
          <p:nvPr/>
        </p:nvSpPr>
        <p:spPr>
          <a:xfrm>
            <a:off x="7315200" y="5669280"/>
            <a:ext cx="18288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Return to Board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481" y="1097280"/>
            <a:ext cx="903503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/>
              <a:t>According to NFPA 110, a 4-Hour Generator Load Test must be performed at intervals not exceeding ___.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06400"/>
                </a:solidFill>
              </a:rPr>
              <a:t>Answer: 36 months (3 years)</a:t>
            </a:r>
          </a:p>
        </p:txBody>
      </p:sp>
      <p:sp>
        <p:nvSpPr>
          <p:cNvPr id="4" name="Rectangle 3">
            <a:hlinkClick r:id="rId2" action="ppaction://hlinksldjump"/>
          </p:cNvPr>
          <p:cNvSpPr/>
          <p:nvPr/>
        </p:nvSpPr>
        <p:spPr>
          <a:xfrm>
            <a:off x="7315200" y="5669280"/>
            <a:ext cx="18288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Return to Board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016" y="1097280"/>
            <a:ext cx="877996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dirty="0"/>
              <a:t>According to NFPA 110, what is the maximum allowable time for an Automatic Transfer Switch to transfer to emergency power after a power loss?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06400"/>
                </a:solidFill>
              </a:rPr>
              <a:t>Answer: 10 seconds</a:t>
            </a:r>
          </a:p>
        </p:txBody>
      </p:sp>
      <p:sp>
        <p:nvSpPr>
          <p:cNvPr id="4" name="Rectangle 3">
            <a:hlinkClick r:id="rId2" action="ppaction://hlinksldjump"/>
          </p:cNvPr>
          <p:cNvSpPr/>
          <p:nvPr/>
        </p:nvSpPr>
        <p:spPr>
          <a:xfrm>
            <a:off x="7315200" y="5669280"/>
            <a:ext cx="18288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Return to Board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9561" y="1097280"/>
            <a:ext cx="868487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dirty="0"/>
              <a:t>For an emergency power supply system, what is the minimum allowable time for a retransfer delay on the automatic transfer switch?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06400"/>
                </a:solidFill>
              </a:rPr>
              <a:t>Answer: 5 minutes</a:t>
            </a:r>
          </a:p>
        </p:txBody>
      </p:sp>
      <p:sp>
        <p:nvSpPr>
          <p:cNvPr id="4" name="Rectangle 3">
            <a:hlinkClick r:id="rId2" action="ppaction://hlinksldjump"/>
          </p:cNvPr>
          <p:cNvSpPr/>
          <p:nvPr/>
        </p:nvSpPr>
        <p:spPr>
          <a:xfrm>
            <a:off x="7315200" y="5669280"/>
            <a:ext cx="18288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Return to Board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6808" y="1097280"/>
            <a:ext cx="843038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dirty="0"/>
              <a:t>According to NFPA 110, a Diesel Fuel Analysis must be completed at least ___.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06400"/>
                </a:solidFill>
              </a:rPr>
              <a:t>Answer: Annually (every 12 months)</a:t>
            </a:r>
          </a:p>
        </p:txBody>
      </p:sp>
      <p:sp>
        <p:nvSpPr>
          <p:cNvPr id="4" name="Rectangle 3">
            <a:hlinkClick r:id="rId2" action="ppaction://hlinksldjump"/>
          </p:cNvPr>
          <p:cNvSpPr/>
          <p:nvPr/>
        </p:nvSpPr>
        <p:spPr>
          <a:xfrm>
            <a:off x="7315200" y="5669280"/>
            <a:ext cx="18288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Return to Board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31825" y="1097280"/>
            <a:ext cx="920765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/>
              <a:t>According to NFPA 101, what is the maximum allowable delay of egress that may be approved by the AHJ?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06400"/>
                </a:solidFill>
              </a:rPr>
              <a:t>Answer: 30 seconds</a:t>
            </a:r>
          </a:p>
        </p:txBody>
      </p:sp>
      <p:sp>
        <p:nvSpPr>
          <p:cNvPr id="4" name="Rectangle 3">
            <a:hlinkClick r:id="rId2" action="ppaction://hlinksldjump"/>
          </p:cNvPr>
          <p:cNvSpPr/>
          <p:nvPr/>
        </p:nvSpPr>
        <p:spPr>
          <a:xfrm>
            <a:off x="7315200" y="5669280"/>
            <a:ext cx="18288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Return to Board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2612" y="1097280"/>
            <a:ext cx="863877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dirty="0"/>
              <a:t>According to NFPA 101, what is the correct verbiage for delayed egress signage?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06400"/>
                </a:solidFill>
              </a:rPr>
              <a:t>Answer: “PUSH UNTIL ALARM SOUNDS. DOOR CAN BE OPENED IN 15 SECONDS.”</a:t>
            </a:r>
          </a:p>
        </p:txBody>
      </p:sp>
      <p:sp>
        <p:nvSpPr>
          <p:cNvPr id="4" name="Rectangle 3">
            <a:hlinkClick r:id="rId2" action="ppaction://hlinksldjump"/>
          </p:cNvPr>
          <p:cNvSpPr/>
          <p:nvPr/>
        </p:nvSpPr>
        <p:spPr>
          <a:xfrm>
            <a:off x="7315200" y="5669280"/>
            <a:ext cx="18288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Return to Board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32113" y="1097280"/>
            <a:ext cx="920822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/>
              <a:t>According to NFPA 101, what is the maximum allowable abrupt change in elevation on a walkway surface?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06400"/>
                </a:solidFill>
              </a:rPr>
              <a:t>Answer: ¼”</a:t>
            </a:r>
          </a:p>
        </p:txBody>
      </p:sp>
      <p:sp>
        <p:nvSpPr>
          <p:cNvPr id="4" name="Rectangle 3">
            <a:hlinkClick r:id="rId2" action="ppaction://hlinksldjump"/>
          </p:cNvPr>
          <p:cNvSpPr/>
          <p:nvPr/>
        </p:nvSpPr>
        <p:spPr>
          <a:xfrm>
            <a:off x="7315200" y="5669280"/>
            <a:ext cx="18288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Return to Board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23104" y="1097280"/>
            <a:ext cx="919020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dirty="0"/>
              <a:t>According to NFPA 101, when initiating a delayed egress device, the force shall not be required to be continuously applied for more than ___.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06400"/>
                </a:solidFill>
              </a:rPr>
              <a:t>Answer: 3 seconds</a:t>
            </a:r>
          </a:p>
        </p:txBody>
      </p:sp>
      <p:sp>
        <p:nvSpPr>
          <p:cNvPr id="4" name="Rectangle 3">
            <a:hlinkClick r:id="rId2" action="ppaction://hlinksldjump"/>
          </p:cNvPr>
          <p:cNvSpPr/>
          <p:nvPr/>
        </p:nvSpPr>
        <p:spPr>
          <a:xfrm>
            <a:off x="7315200" y="5669280"/>
            <a:ext cx="18288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Return to Board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2503" y="1097280"/>
            <a:ext cx="849899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dirty="0"/>
              <a:t>According to NFPA 101, the maximum force required to release a delayed egress locking system cannot exceed how many pounds?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06400"/>
                </a:solidFill>
              </a:rPr>
              <a:t>Answer: 15 pounds</a:t>
            </a:r>
          </a:p>
        </p:txBody>
      </p:sp>
      <p:sp>
        <p:nvSpPr>
          <p:cNvPr id="4" name="Rectangle 3">
            <a:hlinkClick r:id="rId2" action="ppaction://hlinksldjump"/>
          </p:cNvPr>
          <p:cNvSpPr/>
          <p:nvPr/>
        </p:nvSpPr>
        <p:spPr>
          <a:xfrm>
            <a:off x="7315200" y="5669280"/>
            <a:ext cx="18288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Return to Board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111334" y="1097280"/>
            <a:ext cx="9366668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dirty="0"/>
              <a:t>According to NFPA 101, a fire watch must be conducted if a fire alarm system is out of service for planned maintenance for more than ___ hours in a 24-hour period.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06400"/>
                </a:solidFill>
              </a:rPr>
              <a:t>Answer: 4</a:t>
            </a:r>
          </a:p>
        </p:txBody>
      </p:sp>
      <p:sp>
        <p:nvSpPr>
          <p:cNvPr id="4" name="Rectangle 3">
            <a:hlinkClick r:id="rId2" action="ppaction://hlinksldjump"/>
          </p:cNvPr>
          <p:cNvSpPr/>
          <p:nvPr/>
        </p:nvSpPr>
        <p:spPr>
          <a:xfrm>
            <a:off x="7315200" y="5669280"/>
            <a:ext cx="18288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Return to Board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319" y="1097280"/>
            <a:ext cx="9097363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dirty="0"/>
              <a:t>According to NFPA 72, Smoke Detector Sensitivity Testing must be performed within 1 year of installation and afterwards at intervals not to exceed ___.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06400"/>
                </a:solidFill>
              </a:rPr>
              <a:t>Answer: 2 years</a:t>
            </a:r>
          </a:p>
        </p:txBody>
      </p:sp>
      <p:sp>
        <p:nvSpPr>
          <p:cNvPr id="4" name="Rectangle 3">
            <a:hlinkClick r:id="rId2" action="ppaction://hlinksldjump"/>
          </p:cNvPr>
          <p:cNvSpPr/>
          <p:nvPr/>
        </p:nvSpPr>
        <p:spPr>
          <a:xfrm>
            <a:off x="7315200" y="5669280"/>
            <a:ext cx="18288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Return to Board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901" y="1097280"/>
            <a:ext cx="901419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/>
              <a:t>According to NFPA 72, what is the minimum clearance required around a fire alarm manual pull station?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06400"/>
                </a:solidFill>
              </a:rPr>
              <a:t>Answer: 36”</a:t>
            </a:r>
          </a:p>
        </p:txBody>
      </p:sp>
      <p:sp>
        <p:nvSpPr>
          <p:cNvPr id="4" name="Rectangle 3">
            <a:hlinkClick r:id="rId2" action="ppaction://hlinksldjump"/>
          </p:cNvPr>
          <p:cNvSpPr/>
          <p:nvPr/>
        </p:nvSpPr>
        <p:spPr>
          <a:xfrm>
            <a:off x="7315200" y="5669280"/>
            <a:ext cx="18288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Return to Board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5384" y="1097280"/>
            <a:ext cx="853323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dirty="0"/>
              <a:t>According to NFPA 72, what is the minimum and maximum height a fire alarm manual pull station must be from the finished floor?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06400"/>
                </a:solidFill>
              </a:rPr>
              <a:t>Answer: 42” – 48”</a:t>
            </a:r>
          </a:p>
        </p:txBody>
      </p:sp>
      <p:sp>
        <p:nvSpPr>
          <p:cNvPr id="4" name="Rectangle 3">
            <a:hlinkClick r:id="rId2" action="ppaction://hlinksldjump"/>
          </p:cNvPr>
          <p:cNvSpPr/>
          <p:nvPr/>
        </p:nvSpPr>
        <p:spPr>
          <a:xfrm>
            <a:off x="7315200" y="5669280"/>
            <a:ext cx="18288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Return to Board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4328" y="1097280"/>
            <a:ext cx="851534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/>
              <a:t>According to NFPA 72, a fire alarm manual pull station must be located with ___ of an egress door.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06400"/>
                </a:solidFill>
              </a:rPr>
              <a:t>Answer: 5’</a:t>
            </a:r>
          </a:p>
        </p:txBody>
      </p:sp>
      <p:sp>
        <p:nvSpPr>
          <p:cNvPr id="4" name="Rectangle 3">
            <a:hlinkClick r:id="rId2" action="ppaction://hlinksldjump"/>
          </p:cNvPr>
          <p:cNvSpPr/>
          <p:nvPr/>
        </p:nvSpPr>
        <p:spPr>
          <a:xfrm>
            <a:off x="7315200" y="5669280"/>
            <a:ext cx="18288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Return to Board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9911" y="1097280"/>
            <a:ext cx="87041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dirty="0"/>
              <a:t>According to NFPA 80, what is the minimum required inspection frequency for fire doors?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06400"/>
                </a:solidFill>
              </a:rPr>
              <a:t>Answer: Annually (12 months)</a:t>
            </a:r>
          </a:p>
        </p:txBody>
      </p:sp>
      <p:sp>
        <p:nvSpPr>
          <p:cNvPr id="4" name="Rectangle 3">
            <a:hlinkClick r:id="rId2" action="ppaction://hlinksldjump"/>
          </p:cNvPr>
          <p:cNvSpPr/>
          <p:nvPr/>
        </p:nvSpPr>
        <p:spPr>
          <a:xfrm>
            <a:off x="7315200" y="5669280"/>
            <a:ext cx="18288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Return to Board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68373" y="1097280"/>
            <a:ext cx="928074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dirty="0"/>
              <a:t>What rating must a power strip have to be used in an Assisted Living/Memory Care apartment?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06400"/>
                </a:solidFill>
              </a:rPr>
              <a:t>Answer: UL1363</a:t>
            </a:r>
          </a:p>
        </p:txBody>
      </p:sp>
      <p:sp>
        <p:nvSpPr>
          <p:cNvPr id="4" name="Rectangle 3">
            <a:hlinkClick r:id="rId2" action="ppaction://hlinksldjump"/>
          </p:cNvPr>
          <p:cNvSpPr/>
          <p:nvPr/>
        </p:nvSpPr>
        <p:spPr>
          <a:xfrm>
            <a:off x="7315200" y="5669280"/>
            <a:ext cx="18288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Return to Board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5709" y="1097280"/>
            <a:ext cx="873258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/>
              <a:t>According to NFPA 80, what is the maximum allowable gap for wood fire doors on the top and sides?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06400"/>
                </a:solidFill>
              </a:rPr>
              <a:t>Answer: 1/8”</a:t>
            </a:r>
          </a:p>
        </p:txBody>
      </p:sp>
      <p:sp>
        <p:nvSpPr>
          <p:cNvPr id="4" name="Rectangle 3">
            <a:hlinkClick r:id="rId2" action="ppaction://hlinksldjump"/>
          </p:cNvPr>
          <p:cNvSpPr/>
          <p:nvPr/>
        </p:nvSpPr>
        <p:spPr>
          <a:xfrm>
            <a:off x="7315200" y="5669280"/>
            <a:ext cx="18288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Return to Board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97708" y="1097280"/>
            <a:ext cx="933941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dirty="0"/>
              <a:t>According to NFPA 80 and NFPA 105, link fire dampers present in Assisted Living buildings must be inspected/tested within 1 year of installation and afterwards at intervals not to exceed ___.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06400"/>
                </a:solidFill>
              </a:rPr>
              <a:t>Answer: 4 years</a:t>
            </a:r>
          </a:p>
        </p:txBody>
      </p:sp>
      <p:sp>
        <p:nvSpPr>
          <p:cNvPr id="4" name="Rectangle 3">
            <a:hlinkClick r:id="rId2" action="ppaction://hlinksldjump"/>
          </p:cNvPr>
          <p:cNvSpPr/>
          <p:nvPr/>
        </p:nvSpPr>
        <p:spPr>
          <a:xfrm>
            <a:off x="7315200" y="5669280"/>
            <a:ext cx="18288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Return to Board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266" y="1097280"/>
            <a:ext cx="905946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dirty="0"/>
              <a:t>According to NFPA 10, what is the maximum allowable distance to a fire extinguisher for ordinary combustible hazards?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06400"/>
                </a:solidFill>
              </a:rPr>
              <a:t>Answer: 75 feet</a:t>
            </a:r>
          </a:p>
        </p:txBody>
      </p:sp>
      <p:sp>
        <p:nvSpPr>
          <p:cNvPr id="4" name="Rectangle 3">
            <a:hlinkClick r:id="rId2" action="ppaction://hlinksldjump"/>
          </p:cNvPr>
          <p:cNvSpPr/>
          <p:nvPr/>
        </p:nvSpPr>
        <p:spPr>
          <a:xfrm>
            <a:off x="7315200" y="5669280"/>
            <a:ext cx="18288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Return to Board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Thanks for Playing!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Great job!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6FDD19052F29742B07F3C74A5DD5A3D" ma:contentTypeVersion="17" ma:contentTypeDescription="Create a new document." ma:contentTypeScope="" ma:versionID="4d4149ccb565dd9dc0eb8568daa262b3">
  <xsd:schema xmlns:xsd="http://www.w3.org/2001/XMLSchema" xmlns:xs="http://www.w3.org/2001/XMLSchema" xmlns:p="http://schemas.microsoft.com/office/2006/metadata/properties" xmlns:ns2="3a1c1bc5-2102-46d1-b586-8b2b097768bb" xmlns:ns3="45290870-1dae-4942-a8c1-36122a249ea0" targetNamespace="http://schemas.microsoft.com/office/2006/metadata/properties" ma:root="true" ma:fieldsID="df84ddeb5fa2b6efe5762016e3018eaa" ns2:_="" ns3:_="">
    <xsd:import namespace="3a1c1bc5-2102-46d1-b586-8b2b097768bb"/>
    <xsd:import namespace="45290870-1dae-4942-a8c1-36122a249ea0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  <xsd:element ref="ns3:DescriptionofFil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1c1bc5-2102-46d1-b586-8b2b097768b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c357040d-fada-493e-b532-3f811efa9a2d}" ma:internalName="TaxCatchAll" ma:showField="CatchAllData" ma:web="3a1c1bc5-2102-46d1-b586-8b2b097768b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290870-1dae-4942-a8c1-36122a249ea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4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2758922f-922f-4f9a-a5e7-493f9d0de58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  <xsd:element name="DescriptionofFile" ma:index="24" nillable="true" ma:displayName="Description of File" ma:format="Dropdown" ma:internalName="DescriptionofFile">
      <xsd:simpleType>
        <xsd:restriction base="dms:Text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escriptionofFile xmlns="45290870-1dae-4942-a8c1-36122a249ea0" xsi:nil="true"/>
    <lcf76f155ced4ddcb4097134ff3c332f xmlns="45290870-1dae-4942-a8c1-36122a249ea0">
      <Terms xmlns="http://schemas.microsoft.com/office/infopath/2007/PartnerControls"/>
    </lcf76f155ced4ddcb4097134ff3c332f>
    <TaxCatchAll xmlns="3a1c1bc5-2102-46d1-b586-8b2b097768bb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CCA99F3-F6F9-44E7-8B90-1015E1DD8EB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a1c1bc5-2102-46d1-b586-8b2b097768bb"/>
    <ds:schemaRef ds:uri="45290870-1dae-4942-a8c1-36122a249ea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F2C1E80-5F13-4F99-A703-71C9A600772F}">
  <ds:schemaRefs>
    <ds:schemaRef ds:uri="http://schemas.microsoft.com/office/2006/metadata/properties"/>
    <ds:schemaRef ds:uri="http://schemas.microsoft.com/office/infopath/2007/PartnerControls"/>
    <ds:schemaRef ds:uri="45290870-1dae-4942-a8c1-36122a249ea0"/>
    <ds:schemaRef ds:uri="3a1c1bc5-2102-46d1-b586-8b2b097768bb"/>
  </ds:schemaRefs>
</ds:datastoreItem>
</file>

<file path=customXml/itemProps3.xml><?xml version="1.0" encoding="utf-8"?>
<ds:datastoreItem xmlns:ds="http://schemas.openxmlformats.org/officeDocument/2006/customXml" ds:itemID="{654A7BD6-746D-4A5F-9E45-FC17E32C1A0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798</Words>
  <Application>Microsoft Office PowerPoint</Application>
  <PresentationFormat>On-screen Show (4:3)</PresentationFormat>
  <Paragraphs>110</Paragraphs>
  <Slides>28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Office Theme</vt:lpstr>
      <vt:lpstr>Life Safety &amp; Fire Code Jeopardy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Thanks for Playing!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Belza, Chase</dc:creator>
  <cp:keywords/>
  <dc:description>generated using python-pptx</dc:description>
  <cp:lastModifiedBy>Belza, Chase</cp:lastModifiedBy>
  <cp:revision>44</cp:revision>
  <dcterms:created xsi:type="dcterms:W3CDTF">2013-01-27T09:14:16Z</dcterms:created>
  <dcterms:modified xsi:type="dcterms:W3CDTF">2026-01-17T16:57:09Z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0x01010056FDD19052F29742B07F3C74A5DD5A3D</vt:lpwstr>
  </property>
  <property fmtid="{D5CDD505-2E9C-101B-9397-08002B2CF9AE}" pid="3" name="MediaServiceImageTags">
    <vt:lpwstr/>
  </property>
</Properties>
</file>